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Avenir" panose="02000503020000020003" pitchFamily="2" charset="0"/>
      <p:regular r:id="rId20"/>
      <p:italic r:id="rId21"/>
    </p:embeddedFont>
    <p:embeddedFont>
      <p:font typeface="Impact" panose="020B0806030902050204" pitchFamily="34" charset="0"/>
      <p:regular r:id="rId22"/>
    </p:embeddedFont>
    <p:embeddedFont>
      <p:font typeface="Roboto Mono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03" d="100"/>
          <a:sy n="103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c79f9ce3f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c79f9ce3f_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c79f9ce3f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c79f9ce3f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c79f9ce3f_3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c79f9ce3f_3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c79f9ce3f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c79f9ce3f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c79f9ce3f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c79f9ce3f_3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79f9ce3f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c79f9ce3f_3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c79f9ce3f_3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c79f9ce3f_3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c79f9ce3f_3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c79f9ce3f_3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>
            <a:spLocks noGrp="1"/>
          </p:cNvSpPr>
          <p:nvPr>
            <p:ph type="pic" idx="2"/>
          </p:nvPr>
        </p:nvSpPr>
        <p:spPr>
          <a:xfrm>
            <a:off x="5334000" y="762001"/>
            <a:ext cx="6021388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762001" y="2286000"/>
            <a:ext cx="380999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62000" y="2285999"/>
            <a:ext cx="5151119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78879" y="2285999"/>
            <a:ext cx="5151121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762000" y="3048000"/>
            <a:ext cx="5151119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3"/>
          </p:nvPr>
        </p:nvSpPr>
        <p:spPr>
          <a:xfrm>
            <a:off x="6278878" y="2286000"/>
            <a:ext cx="5151122" cy="7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4"/>
          </p:nvPr>
        </p:nvSpPr>
        <p:spPr>
          <a:xfrm>
            <a:off x="6278878" y="3048000"/>
            <a:ext cx="5151122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5334000" y="762001"/>
            <a:ext cx="60960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762000" y="2286000"/>
            <a:ext cx="38100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4186959" y="-1138958"/>
            <a:ext cx="3818083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619997" y="2286000"/>
            <a:ext cx="5334001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905000" y="-381000"/>
            <a:ext cx="5334001" cy="76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157843" y="6244836"/>
            <a:ext cx="4034156" cy="613164"/>
          </a:xfrm>
          <a:custGeom>
            <a:avLst/>
            <a:gdLst/>
            <a:ahLst/>
            <a:cxnLst/>
            <a:rect l="l" t="t" r="r" b="b"/>
            <a:pathLst>
              <a:path w="4034156" h="613164" extrusionOk="0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1" y="688126"/>
            <a:ext cx="448491" cy="1634252"/>
          </a:xfrm>
          <a:custGeom>
            <a:avLst/>
            <a:gdLst/>
            <a:ahLst/>
            <a:cxnLst/>
            <a:rect l="l" t="t" r="r" b="b"/>
            <a:pathLst>
              <a:path w="448491" h="1634252" extrusionOk="0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7309459" y="6144069"/>
            <a:ext cx="4418271" cy="718159"/>
          </a:xfrm>
          <a:custGeom>
            <a:avLst/>
            <a:gdLst/>
            <a:ahLst/>
            <a:cxnLst/>
            <a:rect l="l" t="t" r="r" b="b"/>
            <a:pathLst>
              <a:path w="4418271" h="718159" extrusionOk="0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480">
          <p15:clr>
            <a:srgbClr val="F26B43"/>
          </p15:clr>
        </p15:guide>
        <p15:guide id="3" pos="960">
          <p15:clr>
            <a:srgbClr val="F26B43"/>
          </p15:clr>
        </p15:guide>
        <p15:guide id="4" pos="1440">
          <p15:clr>
            <a:srgbClr val="F26B43"/>
          </p15:clr>
        </p15:guide>
        <p15:guide id="5" pos="1920">
          <p15:clr>
            <a:srgbClr val="F26B43"/>
          </p15:clr>
        </p15:guide>
        <p15:guide id="6" pos="2400">
          <p15:clr>
            <a:srgbClr val="F26B43"/>
          </p15:clr>
        </p15:guide>
        <p15:guide id="7" pos="2880">
          <p15:clr>
            <a:srgbClr val="F26B43"/>
          </p15:clr>
        </p15:guide>
        <p15:guide id="8" pos="3360">
          <p15:clr>
            <a:srgbClr val="F26B43"/>
          </p15:clr>
        </p15:guide>
        <p15:guide id="9" pos="3840">
          <p15:clr>
            <a:srgbClr val="F26B43"/>
          </p15:clr>
        </p15:guide>
        <p15:guide id="10" pos="4320">
          <p15:clr>
            <a:srgbClr val="F26B43"/>
          </p15:clr>
        </p15:guide>
        <p15:guide id="11" pos="4800">
          <p15:clr>
            <a:srgbClr val="F26B43"/>
          </p15:clr>
        </p15:guide>
        <p15:guide id="12" pos="5280">
          <p15:clr>
            <a:srgbClr val="F26B43"/>
          </p15:clr>
        </p15:guide>
        <p15:guide id="13" pos="5760">
          <p15:clr>
            <a:srgbClr val="F26B43"/>
          </p15:clr>
        </p15:guide>
        <p15:guide id="14" pos="6240">
          <p15:clr>
            <a:srgbClr val="F26B43"/>
          </p15:clr>
        </p15:guide>
        <p15:guide id="15" pos="6720">
          <p15:clr>
            <a:srgbClr val="F26B43"/>
          </p15:clr>
        </p15:guide>
        <p15:guide id="16" pos="7200">
          <p15:clr>
            <a:srgbClr val="F26B43"/>
          </p15:clr>
        </p15:guide>
        <p15:guide id="17" pos="7680">
          <p15:clr>
            <a:srgbClr val="F26B43"/>
          </p15:clr>
        </p15:guide>
        <p15:guide id="18" orient="horz">
          <p15:clr>
            <a:srgbClr val="F26B43"/>
          </p15:clr>
        </p15:guide>
        <p15:guide id="19" orient="horz" pos="480">
          <p15:clr>
            <a:srgbClr val="F26B43"/>
          </p15:clr>
        </p15:guide>
        <p15:guide id="20" orient="horz" pos="960">
          <p15:clr>
            <a:srgbClr val="F26B43"/>
          </p15:clr>
        </p15:guide>
        <p15:guide id="21" orient="horz" pos="1440">
          <p15:clr>
            <a:srgbClr val="F26B43"/>
          </p15:clr>
        </p15:guide>
        <p15:guide id="22" orient="horz" pos="1920">
          <p15:clr>
            <a:srgbClr val="F26B43"/>
          </p15:clr>
        </p15:guide>
        <p15:guide id="23" orient="horz" pos="2400">
          <p15:clr>
            <a:srgbClr val="F26B43"/>
          </p15:clr>
        </p15:guide>
        <p15:guide id="24" orient="horz" pos="2880">
          <p15:clr>
            <a:srgbClr val="F26B43"/>
          </p15:clr>
        </p15:guide>
        <p15:guide id="25" orient="horz" pos="3360">
          <p15:clr>
            <a:srgbClr val="F26B43"/>
          </p15:clr>
        </p15:guide>
        <p15:guide id="26" orient="horz" pos="3840">
          <p15:clr>
            <a:srgbClr val="F26B43"/>
          </p15:clr>
        </p15:guide>
        <p15:guide id="27" orient="horz" pos="4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GLOBAL SUPERSTORE DATA WAREHOUSE &amp; BI ANALYTICS SYSTEM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Team Alpha: Sakshi Singh, Shivani Pandeti, Amulya Walimbe, Reeya Patra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Course: IST 722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62000" y="241650"/>
            <a:ext cx="10668000" cy="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Project Overview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717600" y="1938299"/>
            <a:ext cx="10668000" cy="3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79867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364">
                <a:latin typeface="Calibri"/>
                <a:ea typeface="Calibri"/>
                <a:cs typeface="Calibri"/>
                <a:sym typeface="Calibri"/>
              </a:rPr>
              <a:t>This project delivers a complete end-to-end </a:t>
            </a:r>
            <a:r>
              <a:rPr lang="en-US" sz="3364" b="1">
                <a:latin typeface="Calibri"/>
                <a:ea typeface="Calibri"/>
                <a:cs typeface="Calibri"/>
                <a:sym typeface="Calibri"/>
              </a:rPr>
              <a:t>Data Warehouse + BI Insights System</a:t>
            </a:r>
            <a:r>
              <a:rPr lang="en-US" sz="3364">
                <a:latin typeface="Calibri"/>
                <a:ea typeface="Calibri"/>
                <a:cs typeface="Calibri"/>
                <a:sym typeface="Calibri"/>
              </a:rPr>
              <a:t> using Snowflake and Power BI.</a:t>
            </a:r>
            <a:endParaRPr sz="3364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9702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•"/>
            </a:pPr>
            <a:r>
              <a:rPr lang="en-US" sz="3364">
                <a:latin typeface="Calibri"/>
                <a:ea typeface="Calibri"/>
                <a:cs typeface="Calibri"/>
                <a:sym typeface="Calibri"/>
              </a:rPr>
              <a:t>We converted raw Global Superstore data into a high-performance analytical model that supports sales analytics, customer insights, product performance, and shipping efficiency.</a:t>
            </a:r>
            <a:endParaRPr sz="3364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64135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690975" y="143150"/>
            <a:ext cx="10668000" cy="81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BUSINESS PROBLEM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762000" y="1109175"/>
            <a:ext cx="10668000" cy="5238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latin typeface="Calibri"/>
                <a:ea typeface="Calibri"/>
                <a:cs typeface="Calibri"/>
                <a:sym typeface="Calibri"/>
              </a:rPr>
              <a:t>THE ORGANIZATION HAD:</a:t>
            </a:r>
            <a:endParaRPr sz="2200" b="1" i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Large volumes of sales data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No centralized warehouse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Slow, repetitive reporting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No unified view of customers, products, or regions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No automated KPI calculations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Build a scalable warehouse + dashboards to support fast decision-making.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762000" y="193875"/>
            <a:ext cx="106680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60"/>
              <a:buFont typeface="Arial"/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OBJECTIVE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762000" y="3429000"/>
            <a:ext cx="602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688258" y="4055808"/>
            <a:ext cx="112884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1397250" y="1468400"/>
            <a:ext cx="93975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 raw transactional data into analytical format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Build a Snowflake-based warehouse with conformed dimensions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Automate the ETL pipeline (Extract → Transform → Load)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Produce enterprise-grade dashboards for four business processes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 trend analysis, regional performance, customer segmentation, and delivery KPIs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92075" y="234450"/>
            <a:ext cx="10668000" cy="76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DATA SOURCES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738375" y="1278600"/>
            <a:ext cx="10775400" cy="55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Superstore Dataset </a:t>
            </a:r>
            <a:r>
              <a:rPr lang="en-US" sz="22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2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~51K rows, 24 attributes</a:t>
            </a:r>
            <a:br>
              <a:rPr lang="en-US" sz="22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Includes: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Discounts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Shipping performance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Provided as CSV → loaded into Snowflake RAW_STAGE</a:t>
            </a:r>
            <a:endParaRPr sz="2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62000" y="96900"/>
            <a:ext cx="10668000" cy="82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System Architecture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69450" y="843175"/>
            <a:ext cx="10853100" cy="54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Three-Layer Data Warehouse Architecture</a:t>
            </a:r>
            <a:endParaRPr sz="2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RAW_STAGE</a:t>
            </a:r>
            <a:b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Raw CSV data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transformations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 Layer</a:t>
            </a:r>
            <a:b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Surrogate keys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Cleaning, standardization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 &amp; Dimension build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DW Layer</a:t>
            </a:r>
            <a:b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Presentation-ready tables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Used by Power BI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762000" y="163450"/>
            <a:ext cx="10668000" cy="8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ETL </a:t>
            </a:r>
            <a:r>
              <a:rPr lang="en-US" i="1"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>
                <a:latin typeface="Impact"/>
                <a:ea typeface="Impact"/>
                <a:cs typeface="Impact"/>
                <a:sym typeface="Impact"/>
              </a:rPr>
              <a:t>METHODOLOGY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833025" y="963820"/>
            <a:ext cx="10716600" cy="57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i="1">
                <a:latin typeface="Calibri"/>
                <a:ea typeface="Calibri"/>
                <a:cs typeface="Calibri"/>
                <a:sym typeface="Calibri"/>
              </a:rPr>
              <a:t>Extract:</a:t>
            </a:r>
            <a:endParaRPr sz="2000" b="1" i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CSV loaded to Snowflake internal stage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STG_GLOBAL_SUPERSTORE created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Data type validation and consistency checks</a:t>
            </a: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i="1">
                <a:latin typeface="Calibri"/>
                <a:ea typeface="Calibri"/>
                <a:cs typeface="Calibri"/>
                <a:sym typeface="Calibri"/>
              </a:rPr>
              <a:t>Transform:</a:t>
            </a:r>
            <a:endParaRPr sz="2000" b="1" i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Cleaned and standardized records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Generated MD5 surrogate keys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Built 5 Dimensions + 4 Fact Tables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Business rules (margin, days-to-ship, monthly rollups)</a:t>
            </a: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i="1">
                <a:latin typeface="Calibri"/>
                <a:ea typeface="Calibri"/>
                <a:cs typeface="Calibri"/>
                <a:sym typeface="Calibri"/>
              </a:rPr>
              <a:t>Load:</a:t>
            </a:r>
            <a:endParaRPr sz="2000" b="1" i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Moved validated objects into DW schema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Ensured referential integrity &amp; row count consistency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762000" y="193875"/>
            <a:ext cx="10668000" cy="736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KEY TRANSFORMATIONS IMPLEMENTED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853325" y="1390350"/>
            <a:ext cx="10668000" cy="483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MD5-based surrogate keys for geography &amp; shipping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Role-playing date dimension (Order Date / Ship Date)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Monthly aggregations for customer &amp; product performance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Shipping delay calculation using </a:t>
            </a:r>
            <a:r>
              <a:rPr lang="en-US" sz="2000">
                <a:latin typeface="Roboto Mono"/>
                <a:ea typeface="Roboto Mono"/>
                <a:cs typeface="Roboto Mono"/>
                <a:sym typeface="Roboto Mono"/>
              </a:rPr>
              <a:t>DATEDIFF</a:t>
            </a:r>
            <a:br>
              <a:rPr lang="en-US" sz="2000">
                <a:latin typeface="Roboto Mono"/>
                <a:ea typeface="Roboto Mono"/>
                <a:cs typeface="Roboto Mono"/>
                <a:sym typeface="Roboto Mono"/>
              </a:rPr>
            </a:b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Profit margin, AOV, repeat purchase metrics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Regional segmentation &amp; market mapping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691000" y="244600"/>
            <a:ext cx="106680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STAR SCHEMA MODEL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968950" y="1061825"/>
            <a:ext cx="10112100" cy="5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 b="1" i="1">
                <a:latin typeface="Calibri"/>
                <a:ea typeface="Calibri"/>
                <a:cs typeface="Calibri"/>
                <a:sym typeface="Calibri"/>
              </a:rPr>
              <a:t>Conformed Dimensions:</a:t>
            </a:r>
            <a:endParaRPr sz="2100" b="1" i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DIM_DATE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DIM_CUSTOMER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DIM_PRODUCT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DIM_GEOGRAPHY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DIM_SHIPPING</a:t>
            </a:r>
            <a:br>
              <a:rPr lang="en-US" sz="2000" b="1">
                <a:latin typeface="Calibri"/>
                <a:ea typeface="Calibri"/>
                <a:cs typeface="Calibri"/>
                <a:sym typeface="Calibri"/>
              </a:rPr>
            </a:b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 b="1" i="1">
                <a:latin typeface="Calibri"/>
                <a:ea typeface="Calibri"/>
                <a:cs typeface="Calibri"/>
                <a:sym typeface="Calibri"/>
              </a:rPr>
              <a:t>Fact Tables:</a:t>
            </a:r>
            <a:endParaRPr sz="2100" b="1" i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FACT_SALES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FACT_SHIPPING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FACT_CUSTOMER_MONTHLY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FACT_PRODUCT_MONTHLY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762000" y="262650"/>
            <a:ext cx="10668000" cy="82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Data Validation Checks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599375" y="1762500"/>
            <a:ext cx="5057100" cy="456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Duplicate key checks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Null key detection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Date continuity between Order Date and Ship Date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Profit, Discount, Quantity sanity checks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Late/On-time shipping logic validation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Referential integrity for all surrogate keys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075" y="2286012"/>
            <a:ext cx="6190149" cy="24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11600" y="1417400"/>
            <a:ext cx="10168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Row count reconciliation between Stage → Transform → DW</a:t>
            </a:r>
            <a:endParaRPr sz="21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xfrm>
            <a:off x="762000" y="262650"/>
            <a:ext cx="10668000" cy="589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Impact"/>
                <a:ea typeface="Impact"/>
                <a:cs typeface="Impact"/>
                <a:sym typeface="Impact"/>
              </a:rPr>
              <a:t>BI - Layer Overview (Power BI)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2" name="Google Shape;152;p23"/>
          <p:cNvSpPr txBox="1">
            <a:spLocks noGrp="1"/>
          </p:cNvSpPr>
          <p:nvPr>
            <p:ph type="body" idx="1"/>
          </p:nvPr>
        </p:nvSpPr>
        <p:spPr>
          <a:xfrm>
            <a:off x="762000" y="1138950"/>
            <a:ext cx="10668000" cy="516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i="1" dirty="0">
                <a:latin typeface="Calibri"/>
                <a:ea typeface="Calibri"/>
                <a:cs typeface="Calibri"/>
                <a:sym typeface="Calibri"/>
              </a:rPr>
              <a:t>The BI solution is divided into 4 business dashboards:</a:t>
            </a:r>
            <a:endParaRPr sz="2100" b="1" i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Sales Overview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Product Performance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Customer Insights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Shipping &amp; Delivery Performance</a:t>
            </a: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i="1" dirty="0">
                <a:latin typeface="Calibri"/>
                <a:ea typeface="Calibri"/>
                <a:cs typeface="Calibri"/>
                <a:sym typeface="Calibri"/>
              </a:rPr>
              <a:t>Designed for:</a:t>
            </a:r>
            <a:endParaRPr sz="2100" b="1" i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Executives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Category Managers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Logistics teams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Customer Relationship teams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771" y="1829500"/>
            <a:ext cx="6473178" cy="38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/>
          <p:nvPr/>
        </p:nvSpPr>
        <p:spPr>
          <a:xfrm>
            <a:off x="8157843" y="6244836"/>
            <a:ext cx="4034156" cy="613164"/>
          </a:xfrm>
          <a:custGeom>
            <a:avLst/>
            <a:gdLst/>
            <a:ahLst/>
            <a:cxnLst/>
            <a:rect l="l" t="t" r="r" b="b"/>
            <a:pathLst>
              <a:path w="4034156" h="613164" extrusionOk="0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1" y="688126"/>
            <a:ext cx="448491" cy="1634252"/>
          </a:xfrm>
          <a:custGeom>
            <a:avLst/>
            <a:gdLst/>
            <a:ahLst/>
            <a:cxnLst/>
            <a:rect l="l" t="t" r="r" b="b"/>
            <a:pathLst>
              <a:path w="448491" h="1634252" extrusionOk="0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7309459" y="6144069"/>
            <a:ext cx="4418271" cy="718159"/>
          </a:xfrm>
          <a:custGeom>
            <a:avLst/>
            <a:gdLst/>
            <a:ahLst/>
            <a:cxnLst/>
            <a:rect l="l" t="t" r="r" b="b"/>
            <a:pathLst>
              <a:path w="4418271" h="718159" extrusionOk="0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2" name="Google Shape;162;p2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b="1312"/>
          <a:stretch/>
        </p:blipFill>
        <p:spPr>
          <a:xfrm>
            <a:off x="3047992" y="1053525"/>
            <a:ext cx="8729607" cy="49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/>
          <p:nvPr/>
        </p:nvSpPr>
        <p:spPr>
          <a:xfrm rot="-5400000" flipH="1">
            <a:off x="10653162" y="-776838"/>
            <a:ext cx="762001" cy="2315675"/>
          </a:xfrm>
          <a:custGeom>
            <a:avLst/>
            <a:gdLst/>
            <a:ahLst/>
            <a:cxnLst/>
            <a:rect l="l" t="t" r="r" b="b"/>
            <a:pathLst>
              <a:path w="1085312" h="2315675" extrusionOk="0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4" name="Google Shape;164;p24"/>
          <p:cNvSpPr/>
          <p:nvPr/>
        </p:nvSpPr>
        <p:spPr>
          <a:xfrm flipH="1">
            <a:off x="-1" y="5913098"/>
            <a:ext cx="3637107" cy="944903"/>
          </a:xfrm>
          <a:custGeom>
            <a:avLst/>
            <a:gdLst/>
            <a:ahLst/>
            <a:cxnLst/>
            <a:rect l="l" t="t" r="r" b="b"/>
            <a:pathLst>
              <a:path w="4228094" h="1137038" extrusionOk="0">
                <a:moveTo>
                  <a:pt x="1673074" y="230"/>
                </a:moveTo>
                <a:cubicBezTo>
                  <a:pt x="2346512" y="4287"/>
                  <a:pt x="3048424" y="63583"/>
                  <a:pt x="3676781" y="298555"/>
                </a:cubicBezTo>
                <a:cubicBezTo>
                  <a:pt x="3793275" y="342114"/>
                  <a:pt x="3909477" y="384216"/>
                  <a:pt x="4025527" y="425010"/>
                </a:cubicBezTo>
                <a:lnTo>
                  <a:pt x="4228094" y="494088"/>
                </a:lnTo>
                <a:lnTo>
                  <a:pt x="4228094" y="1137038"/>
                </a:lnTo>
                <a:lnTo>
                  <a:pt x="0" y="1137038"/>
                </a:lnTo>
                <a:lnTo>
                  <a:pt x="18109" y="1068877"/>
                </a:lnTo>
                <a:cubicBezTo>
                  <a:pt x="95047" y="799139"/>
                  <a:pt x="194962" y="542008"/>
                  <a:pt x="362264" y="366637"/>
                </a:cubicBezTo>
                <a:cubicBezTo>
                  <a:pt x="622229" y="94062"/>
                  <a:pt x="1015836" y="6565"/>
                  <a:pt x="1386499" y="1522"/>
                </a:cubicBezTo>
                <a:cubicBezTo>
                  <a:pt x="1481245" y="198"/>
                  <a:pt x="1576869" y="-349"/>
                  <a:pt x="1673074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5" name="Google Shape;165;p24"/>
          <p:cNvSpPr/>
          <p:nvPr/>
        </p:nvSpPr>
        <p:spPr>
          <a:xfrm flipH="1">
            <a:off x="1127" y="5988834"/>
            <a:ext cx="4332747" cy="1027378"/>
          </a:xfrm>
          <a:custGeom>
            <a:avLst/>
            <a:gdLst/>
            <a:ahLst/>
            <a:cxnLst/>
            <a:rect l="l" t="t" r="r" b="b"/>
            <a:pathLst>
              <a:path w="5038078" h="1237805" extrusionOk="0">
                <a:moveTo>
                  <a:pt x="0" y="1237805"/>
                </a:moveTo>
                <a:lnTo>
                  <a:pt x="19230" y="1159609"/>
                </a:lnTo>
                <a:cubicBezTo>
                  <a:pt x="96961" y="850027"/>
                  <a:pt x="191605" y="533778"/>
                  <a:pt x="382219" y="333970"/>
                </a:cubicBezTo>
                <a:cubicBezTo>
                  <a:pt x="619171" y="85526"/>
                  <a:pt x="977934" y="5774"/>
                  <a:pt x="1315784" y="1178"/>
                </a:cubicBezTo>
                <a:lnTo>
                  <a:pt x="1576991" y="0"/>
                </a:lnTo>
                <a:cubicBezTo>
                  <a:pt x="2190813" y="3698"/>
                  <a:pt x="2830589" y="57744"/>
                  <a:pt x="3403320" y="271915"/>
                </a:cubicBezTo>
                <a:cubicBezTo>
                  <a:pt x="3828046" y="430728"/>
                  <a:pt x="4248519" y="568281"/>
                  <a:pt x="4672870" y="693394"/>
                </a:cubicBezTo>
                <a:lnTo>
                  <a:pt x="5038078" y="795719"/>
                </a:lnTo>
              </a:path>
            </a:pathLst>
          </a:custGeom>
          <a:noFill/>
          <a:ln w="19050" cap="flat" cmpd="sng">
            <a:solidFill>
              <a:srgbClr val="F3CA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694342" y="151955"/>
            <a:ext cx="10384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Dashboard 1 — Sales Overview</a:t>
            </a:r>
            <a:endParaRPr sz="4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319500" y="921450"/>
            <a:ext cx="2409000" cy="6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Metrics Displayed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Sales, Profit, Orders, Profit Margin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Yearly trend analysis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Regional sales breakdown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 10 customers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Sales &amp; profit by category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Insight: 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Steady YoY sales growth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Technology contributes highest revenue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East region is the dominant market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 10 customers drive a large % of revenue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8157843" y="6244836"/>
            <a:ext cx="4034156" cy="613164"/>
          </a:xfrm>
          <a:custGeom>
            <a:avLst/>
            <a:gdLst/>
            <a:ahLst/>
            <a:cxnLst/>
            <a:rect l="l" t="t" r="r" b="b"/>
            <a:pathLst>
              <a:path w="4034156" h="613164" extrusionOk="0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1" y="688126"/>
            <a:ext cx="448491" cy="1634252"/>
          </a:xfrm>
          <a:custGeom>
            <a:avLst/>
            <a:gdLst/>
            <a:ahLst/>
            <a:cxnLst/>
            <a:rect l="l" t="t" r="r" b="b"/>
            <a:pathLst>
              <a:path w="448491" h="1634252" extrusionOk="0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7309459" y="6144069"/>
            <a:ext cx="4418271" cy="718159"/>
          </a:xfrm>
          <a:custGeom>
            <a:avLst/>
            <a:gdLst/>
            <a:ahLst/>
            <a:cxnLst/>
            <a:rect l="l" t="t" r="r" b="b"/>
            <a:pathLst>
              <a:path w="4418271" h="718159" extrusionOk="0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76" name="Google Shape;176;p25" descr="A screenshot of a product performance report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b="1315"/>
          <a:stretch/>
        </p:blipFill>
        <p:spPr>
          <a:xfrm>
            <a:off x="3200150" y="1101751"/>
            <a:ext cx="8736751" cy="49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/>
          <p:nvPr/>
        </p:nvSpPr>
        <p:spPr>
          <a:xfrm rot="-5400000" flipH="1">
            <a:off x="10653162" y="-776838"/>
            <a:ext cx="762001" cy="2315675"/>
          </a:xfrm>
          <a:custGeom>
            <a:avLst/>
            <a:gdLst/>
            <a:ahLst/>
            <a:cxnLst/>
            <a:rect l="l" t="t" r="r" b="b"/>
            <a:pathLst>
              <a:path w="1085312" h="2315675" extrusionOk="0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8" name="Google Shape;178;p25"/>
          <p:cNvSpPr/>
          <p:nvPr/>
        </p:nvSpPr>
        <p:spPr>
          <a:xfrm flipH="1">
            <a:off x="-1" y="5913098"/>
            <a:ext cx="3637107" cy="944903"/>
          </a:xfrm>
          <a:custGeom>
            <a:avLst/>
            <a:gdLst/>
            <a:ahLst/>
            <a:cxnLst/>
            <a:rect l="l" t="t" r="r" b="b"/>
            <a:pathLst>
              <a:path w="4228094" h="1137038" extrusionOk="0">
                <a:moveTo>
                  <a:pt x="1673074" y="230"/>
                </a:moveTo>
                <a:cubicBezTo>
                  <a:pt x="2346512" y="4287"/>
                  <a:pt x="3048424" y="63583"/>
                  <a:pt x="3676781" y="298555"/>
                </a:cubicBezTo>
                <a:cubicBezTo>
                  <a:pt x="3793275" y="342114"/>
                  <a:pt x="3909477" y="384216"/>
                  <a:pt x="4025527" y="425010"/>
                </a:cubicBezTo>
                <a:lnTo>
                  <a:pt x="4228094" y="494088"/>
                </a:lnTo>
                <a:lnTo>
                  <a:pt x="4228094" y="1137038"/>
                </a:lnTo>
                <a:lnTo>
                  <a:pt x="0" y="1137038"/>
                </a:lnTo>
                <a:lnTo>
                  <a:pt x="18109" y="1068877"/>
                </a:lnTo>
                <a:cubicBezTo>
                  <a:pt x="95047" y="799139"/>
                  <a:pt x="194962" y="542008"/>
                  <a:pt x="362264" y="366637"/>
                </a:cubicBezTo>
                <a:cubicBezTo>
                  <a:pt x="622229" y="94062"/>
                  <a:pt x="1015836" y="6565"/>
                  <a:pt x="1386499" y="1522"/>
                </a:cubicBezTo>
                <a:cubicBezTo>
                  <a:pt x="1481245" y="198"/>
                  <a:pt x="1576869" y="-349"/>
                  <a:pt x="1673074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9" name="Google Shape;179;p25"/>
          <p:cNvSpPr/>
          <p:nvPr/>
        </p:nvSpPr>
        <p:spPr>
          <a:xfrm flipH="1">
            <a:off x="0" y="5829359"/>
            <a:ext cx="4333874" cy="1028642"/>
          </a:xfrm>
          <a:custGeom>
            <a:avLst/>
            <a:gdLst/>
            <a:ahLst/>
            <a:cxnLst/>
            <a:rect l="l" t="t" r="r" b="b"/>
            <a:pathLst>
              <a:path w="5038078" h="1237805" extrusionOk="0">
                <a:moveTo>
                  <a:pt x="0" y="1237805"/>
                </a:moveTo>
                <a:lnTo>
                  <a:pt x="19230" y="1159609"/>
                </a:lnTo>
                <a:cubicBezTo>
                  <a:pt x="96961" y="850027"/>
                  <a:pt x="191605" y="533778"/>
                  <a:pt x="382219" y="333970"/>
                </a:cubicBezTo>
                <a:cubicBezTo>
                  <a:pt x="619171" y="85526"/>
                  <a:pt x="977934" y="5774"/>
                  <a:pt x="1315784" y="1178"/>
                </a:cubicBezTo>
                <a:lnTo>
                  <a:pt x="1576991" y="0"/>
                </a:lnTo>
                <a:cubicBezTo>
                  <a:pt x="2190813" y="3698"/>
                  <a:pt x="2830589" y="57744"/>
                  <a:pt x="3403320" y="271915"/>
                </a:cubicBezTo>
                <a:cubicBezTo>
                  <a:pt x="3828046" y="430728"/>
                  <a:pt x="4248519" y="568281"/>
                  <a:pt x="4672870" y="693394"/>
                </a:cubicBezTo>
                <a:lnTo>
                  <a:pt x="5038078" y="795719"/>
                </a:lnTo>
              </a:path>
            </a:pathLst>
          </a:custGeom>
          <a:noFill/>
          <a:ln w="19050" cap="flat" cmpd="sng">
            <a:solidFill>
              <a:srgbClr val="F3CA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327000" y="1101750"/>
            <a:ext cx="2673300" cy="4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Metrics Displayed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Monthly sales trend by category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Category vs sub-category treemap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Profitability matrix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 15 products by profit</a:t>
            </a:r>
            <a:b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Q4 peak visible in all years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Phones, Chairs → high performers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Bookcases, Furnishings → low profitability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Technology has highest margins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694342" y="151955"/>
            <a:ext cx="10384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Dashboard 2 — Product Performance</a:t>
            </a:r>
            <a:endParaRPr sz="4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8157843" y="6244836"/>
            <a:ext cx="4034156" cy="613164"/>
          </a:xfrm>
          <a:custGeom>
            <a:avLst/>
            <a:gdLst/>
            <a:ahLst/>
            <a:cxnLst/>
            <a:rect l="l" t="t" r="r" b="b"/>
            <a:pathLst>
              <a:path w="4034156" h="613164" extrusionOk="0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1" y="688126"/>
            <a:ext cx="448491" cy="1634252"/>
          </a:xfrm>
          <a:custGeom>
            <a:avLst/>
            <a:gdLst/>
            <a:ahLst/>
            <a:cxnLst/>
            <a:rect l="l" t="t" r="r" b="b"/>
            <a:pathLst>
              <a:path w="448491" h="1634252" extrusionOk="0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7309459" y="6144069"/>
            <a:ext cx="4418271" cy="718159"/>
          </a:xfrm>
          <a:custGeom>
            <a:avLst/>
            <a:gdLst/>
            <a:ahLst/>
            <a:cxnLst/>
            <a:rect l="l" t="t" r="r" b="b"/>
            <a:pathLst>
              <a:path w="4418271" h="718159" extrusionOk="0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0" name="Google Shape;190;p26" descr="A close-up of a chart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44"/>
          <a:stretch/>
        </p:blipFill>
        <p:spPr>
          <a:xfrm>
            <a:off x="3172825" y="1126688"/>
            <a:ext cx="8554900" cy="481213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/>
          <p:nvPr/>
        </p:nvSpPr>
        <p:spPr>
          <a:xfrm rot="-5400000" flipH="1">
            <a:off x="10653162" y="-776838"/>
            <a:ext cx="762001" cy="2315675"/>
          </a:xfrm>
          <a:custGeom>
            <a:avLst/>
            <a:gdLst/>
            <a:ahLst/>
            <a:cxnLst/>
            <a:rect l="l" t="t" r="r" b="b"/>
            <a:pathLst>
              <a:path w="1085312" h="2315675" extrusionOk="0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2" name="Google Shape;192;p26"/>
          <p:cNvSpPr/>
          <p:nvPr/>
        </p:nvSpPr>
        <p:spPr>
          <a:xfrm flipH="1">
            <a:off x="-1" y="5913098"/>
            <a:ext cx="3637107" cy="944903"/>
          </a:xfrm>
          <a:custGeom>
            <a:avLst/>
            <a:gdLst/>
            <a:ahLst/>
            <a:cxnLst/>
            <a:rect l="l" t="t" r="r" b="b"/>
            <a:pathLst>
              <a:path w="4228094" h="1137038" extrusionOk="0">
                <a:moveTo>
                  <a:pt x="1673074" y="230"/>
                </a:moveTo>
                <a:cubicBezTo>
                  <a:pt x="2346512" y="4287"/>
                  <a:pt x="3048424" y="63583"/>
                  <a:pt x="3676781" y="298555"/>
                </a:cubicBezTo>
                <a:cubicBezTo>
                  <a:pt x="3793275" y="342114"/>
                  <a:pt x="3909477" y="384216"/>
                  <a:pt x="4025527" y="425010"/>
                </a:cubicBezTo>
                <a:lnTo>
                  <a:pt x="4228094" y="494088"/>
                </a:lnTo>
                <a:lnTo>
                  <a:pt x="4228094" y="1137038"/>
                </a:lnTo>
                <a:lnTo>
                  <a:pt x="0" y="1137038"/>
                </a:lnTo>
                <a:lnTo>
                  <a:pt x="18109" y="1068877"/>
                </a:lnTo>
                <a:cubicBezTo>
                  <a:pt x="95047" y="799139"/>
                  <a:pt x="194962" y="542008"/>
                  <a:pt x="362264" y="366637"/>
                </a:cubicBezTo>
                <a:cubicBezTo>
                  <a:pt x="622229" y="94062"/>
                  <a:pt x="1015836" y="6565"/>
                  <a:pt x="1386499" y="1522"/>
                </a:cubicBezTo>
                <a:cubicBezTo>
                  <a:pt x="1481245" y="198"/>
                  <a:pt x="1576869" y="-349"/>
                  <a:pt x="1673074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3" name="Google Shape;193;p26"/>
          <p:cNvSpPr/>
          <p:nvPr/>
        </p:nvSpPr>
        <p:spPr>
          <a:xfrm flipH="1">
            <a:off x="1127" y="5913134"/>
            <a:ext cx="4332747" cy="1027378"/>
          </a:xfrm>
          <a:custGeom>
            <a:avLst/>
            <a:gdLst/>
            <a:ahLst/>
            <a:cxnLst/>
            <a:rect l="l" t="t" r="r" b="b"/>
            <a:pathLst>
              <a:path w="5038078" h="1237805" extrusionOk="0">
                <a:moveTo>
                  <a:pt x="0" y="1237805"/>
                </a:moveTo>
                <a:lnTo>
                  <a:pt x="19230" y="1159609"/>
                </a:lnTo>
                <a:cubicBezTo>
                  <a:pt x="96961" y="850027"/>
                  <a:pt x="191605" y="533778"/>
                  <a:pt x="382219" y="333970"/>
                </a:cubicBezTo>
                <a:cubicBezTo>
                  <a:pt x="619171" y="85526"/>
                  <a:pt x="977934" y="5774"/>
                  <a:pt x="1315784" y="1178"/>
                </a:cubicBezTo>
                <a:lnTo>
                  <a:pt x="1576991" y="0"/>
                </a:lnTo>
                <a:cubicBezTo>
                  <a:pt x="2190813" y="3698"/>
                  <a:pt x="2830589" y="57744"/>
                  <a:pt x="3403320" y="271915"/>
                </a:cubicBezTo>
                <a:cubicBezTo>
                  <a:pt x="3828046" y="430728"/>
                  <a:pt x="4248519" y="568281"/>
                  <a:pt x="4672870" y="693394"/>
                </a:cubicBezTo>
                <a:lnTo>
                  <a:pt x="5038078" y="795719"/>
                </a:lnTo>
              </a:path>
            </a:pathLst>
          </a:custGeom>
          <a:noFill/>
          <a:ln w="19050" cap="flat" cmpd="sng">
            <a:solidFill>
              <a:srgbClr val="F3CA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279721" y="1165467"/>
            <a:ext cx="2583900" cy="4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Metrics Displayed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Segment-wise revenue distribution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Average order value by segment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Monthly repeat ordering trend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location map</a:t>
            </a:r>
            <a:b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Consumer segment contributes ~50%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Corporate has higher AOV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Repeat orders increasing over time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East and West regions dominate customer base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694342" y="151955"/>
            <a:ext cx="10384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Dashboard 3 — Customer Insights</a:t>
            </a:r>
            <a:endParaRPr sz="4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/>
          <p:nvPr/>
        </p:nvSpPr>
        <p:spPr>
          <a:xfrm>
            <a:off x="8157843" y="6244836"/>
            <a:ext cx="4034156" cy="613164"/>
          </a:xfrm>
          <a:custGeom>
            <a:avLst/>
            <a:gdLst/>
            <a:ahLst/>
            <a:cxnLst/>
            <a:rect l="l" t="t" r="r" b="b"/>
            <a:pathLst>
              <a:path w="4034156" h="613164" extrusionOk="0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1" y="688126"/>
            <a:ext cx="448491" cy="1634252"/>
          </a:xfrm>
          <a:custGeom>
            <a:avLst/>
            <a:gdLst/>
            <a:ahLst/>
            <a:cxnLst/>
            <a:rect l="l" t="t" r="r" b="b"/>
            <a:pathLst>
              <a:path w="448491" h="1634252" extrusionOk="0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7309459" y="6144069"/>
            <a:ext cx="4418271" cy="718159"/>
          </a:xfrm>
          <a:custGeom>
            <a:avLst/>
            <a:gdLst/>
            <a:ahLst/>
            <a:cxnLst/>
            <a:rect l="l" t="t" r="r" b="b"/>
            <a:pathLst>
              <a:path w="4418271" h="718159" extrusionOk="0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0" y="22194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04" name="Google Shape;204;p27" descr="A close-up of a chart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05" r="382" b="-1"/>
          <a:stretch/>
        </p:blipFill>
        <p:spPr>
          <a:xfrm>
            <a:off x="3047989" y="1055213"/>
            <a:ext cx="8809061" cy="495508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/>
          <p:nvPr/>
        </p:nvSpPr>
        <p:spPr>
          <a:xfrm rot="-5400000" flipH="1">
            <a:off x="10653162" y="-776838"/>
            <a:ext cx="762001" cy="2315675"/>
          </a:xfrm>
          <a:custGeom>
            <a:avLst/>
            <a:gdLst/>
            <a:ahLst/>
            <a:cxnLst/>
            <a:rect l="l" t="t" r="r" b="b"/>
            <a:pathLst>
              <a:path w="1085312" h="2315675" extrusionOk="0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6" name="Google Shape;206;p27"/>
          <p:cNvSpPr/>
          <p:nvPr/>
        </p:nvSpPr>
        <p:spPr>
          <a:xfrm flipH="1">
            <a:off x="-1" y="5913098"/>
            <a:ext cx="3637107" cy="944903"/>
          </a:xfrm>
          <a:custGeom>
            <a:avLst/>
            <a:gdLst/>
            <a:ahLst/>
            <a:cxnLst/>
            <a:rect l="l" t="t" r="r" b="b"/>
            <a:pathLst>
              <a:path w="4228094" h="1137038" extrusionOk="0">
                <a:moveTo>
                  <a:pt x="1673074" y="230"/>
                </a:moveTo>
                <a:cubicBezTo>
                  <a:pt x="2346512" y="4287"/>
                  <a:pt x="3048424" y="63583"/>
                  <a:pt x="3676781" y="298555"/>
                </a:cubicBezTo>
                <a:cubicBezTo>
                  <a:pt x="3793275" y="342114"/>
                  <a:pt x="3909477" y="384216"/>
                  <a:pt x="4025527" y="425010"/>
                </a:cubicBezTo>
                <a:lnTo>
                  <a:pt x="4228094" y="494088"/>
                </a:lnTo>
                <a:lnTo>
                  <a:pt x="4228094" y="1137038"/>
                </a:lnTo>
                <a:lnTo>
                  <a:pt x="0" y="1137038"/>
                </a:lnTo>
                <a:lnTo>
                  <a:pt x="18109" y="1068877"/>
                </a:lnTo>
                <a:cubicBezTo>
                  <a:pt x="95047" y="799139"/>
                  <a:pt x="194962" y="542008"/>
                  <a:pt x="362264" y="366637"/>
                </a:cubicBezTo>
                <a:cubicBezTo>
                  <a:pt x="622229" y="94062"/>
                  <a:pt x="1015836" y="6565"/>
                  <a:pt x="1386499" y="1522"/>
                </a:cubicBezTo>
                <a:cubicBezTo>
                  <a:pt x="1481245" y="198"/>
                  <a:pt x="1576869" y="-349"/>
                  <a:pt x="1673074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7" name="Google Shape;207;p27"/>
          <p:cNvSpPr/>
          <p:nvPr/>
        </p:nvSpPr>
        <p:spPr>
          <a:xfrm flipH="1">
            <a:off x="1127" y="6037097"/>
            <a:ext cx="4332747" cy="1027378"/>
          </a:xfrm>
          <a:custGeom>
            <a:avLst/>
            <a:gdLst/>
            <a:ahLst/>
            <a:cxnLst/>
            <a:rect l="l" t="t" r="r" b="b"/>
            <a:pathLst>
              <a:path w="5038078" h="1237805" extrusionOk="0">
                <a:moveTo>
                  <a:pt x="0" y="1237805"/>
                </a:moveTo>
                <a:lnTo>
                  <a:pt x="19230" y="1159609"/>
                </a:lnTo>
                <a:cubicBezTo>
                  <a:pt x="96961" y="850027"/>
                  <a:pt x="191605" y="533778"/>
                  <a:pt x="382219" y="333970"/>
                </a:cubicBezTo>
                <a:cubicBezTo>
                  <a:pt x="619171" y="85526"/>
                  <a:pt x="977934" y="5774"/>
                  <a:pt x="1315784" y="1178"/>
                </a:cubicBezTo>
                <a:lnTo>
                  <a:pt x="1576991" y="0"/>
                </a:lnTo>
                <a:cubicBezTo>
                  <a:pt x="2190813" y="3698"/>
                  <a:pt x="2830589" y="57744"/>
                  <a:pt x="3403320" y="271915"/>
                </a:cubicBezTo>
                <a:cubicBezTo>
                  <a:pt x="3828046" y="430728"/>
                  <a:pt x="4248519" y="568281"/>
                  <a:pt x="4672870" y="693394"/>
                </a:cubicBezTo>
                <a:lnTo>
                  <a:pt x="5038078" y="795719"/>
                </a:lnTo>
              </a:path>
            </a:pathLst>
          </a:custGeom>
          <a:noFill/>
          <a:ln w="19050" cap="flat" cmpd="sng">
            <a:solidFill>
              <a:srgbClr val="F3CA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203915" y="1667663"/>
            <a:ext cx="25617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Key Metrics Displayed</a:t>
            </a:r>
            <a:endParaRPr b="1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On-time vs Late deliveries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Days-to-ship distribution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Shipping cost by mode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Region-wise delivery risks</a:t>
            </a:r>
            <a:b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1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~17% deliveries are late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Standard &amp; Second Class dominate volume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4–5 day shipping is most common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APAC &amp; EMEA regions show higher delays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448500" y="151950"/>
            <a:ext cx="11988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Dashboard 4 — Shipping &amp; Delivery Performance</a:t>
            </a:r>
            <a:endParaRPr sz="4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>
            <a:spLocks noGrp="1"/>
          </p:cNvSpPr>
          <p:nvPr>
            <p:ph type="title"/>
          </p:nvPr>
        </p:nvSpPr>
        <p:spPr>
          <a:xfrm>
            <a:off x="762000" y="262650"/>
            <a:ext cx="10350300" cy="70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Impact"/>
                <a:ea typeface="Impact"/>
                <a:cs typeface="Impact"/>
                <a:sym typeface="Impact"/>
              </a:rPr>
              <a:t>Business Impact</a:t>
            </a:r>
            <a:endParaRPr sz="44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1"/>
          </p:nvPr>
        </p:nvSpPr>
        <p:spPr>
          <a:xfrm>
            <a:off x="761998" y="1442625"/>
            <a:ext cx="10350300" cy="381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The system helps stakeholders: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Monitor revenue growth &amp; profitability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Identify high-value customers and retention trends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Optimize product mix using profitability insights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Improve logistics efficiency by analyzing late shipments</a:t>
            </a:r>
            <a:br>
              <a:rPr lang="en-US" sz="2200">
                <a:latin typeface="Calibri"/>
                <a:ea typeface="Calibri"/>
                <a:cs typeface="Calibri"/>
                <a:sym typeface="Calibri"/>
              </a:rPr>
            </a:b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Reduce operational bottlenecks through data-driven visibility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>
            <a:spLocks noGrp="1"/>
          </p:cNvSpPr>
          <p:nvPr>
            <p:ph type="title"/>
          </p:nvPr>
        </p:nvSpPr>
        <p:spPr>
          <a:xfrm>
            <a:off x="709950" y="295925"/>
            <a:ext cx="10772100" cy="76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Impact"/>
                <a:ea typeface="Impact"/>
                <a:cs typeface="Impact"/>
                <a:sym typeface="Impact"/>
              </a:rPr>
              <a:t>Conclusion</a:t>
            </a:r>
            <a:endParaRPr sz="44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2D5CF6B-36F8-BF3D-C2BB-6E735C4B1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9591" y="1690062"/>
            <a:ext cx="1155476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Successfully built an end-to-end analytics system using Snowflake and Power BI.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Transformed raw, unclean CSV data into a structured, validated data warehouse.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Delivered four business dashboards offering clear insights across sales, customers, products, and shipping.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final solution is scalable, accurate, and aligned with real industry data-engineering practices.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Reflection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Learned the importance of proper data cleaning and staging.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Understood why grain, surrogate keys, and conformed dimensions matter.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Gained hands-on experience building ETL pipelines and star-schema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Realized how small transformation errors can impact final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rgbClr val="000000"/>
      </a:dk1>
      <a:lt1>
        <a:srgbClr val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Microsoft Macintosh PowerPoint</Application>
  <PresentationFormat>Widescreen</PresentationFormat>
  <Paragraphs>161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Avenir</vt:lpstr>
      <vt:lpstr>Roboto Mono</vt:lpstr>
      <vt:lpstr>Impact</vt:lpstr>
      <vt:lpstr>Arial</vt:lpstr>
      <vt:lpstr>Calibri</vt:lpstr>
      <vt:lpstr>PebbleVTI</vt:lpstr>
      <vt:lpstr>GLOBAL SUPERSTORE DATA WAREHOUSE &amp; BI ANALYTICS SYSTEM</vt:lpstr>
      <vt:lpstr>Project Overview</vt:lpstr>
      <vt:lpstr>BUSINESS PROBLEM</vt:lpstr>
      <vt:lpstr>OBJECTIVE</vt:lpstr>
      <vt:lpstr>DATA SOURCES</vt:lpstr>
      <vt:lpstr>System Architecture</vt:lpstr>
      <vt:lpstr>ETL  METHODOLOGY</vt:lpstr>
      <vt:lpstr>KEY TRANSFORMATIONS IMPLEMENTED</vt:lpstr>
      <vt:lpstr>STAR SCHEMA MODEL</vt:lpstr>
      <vt:lpstr>Data Validation Checks</vt:lpstr>
      <vt:lpstr>BI - Layer Overview (Power BI)</vt:lpstr>
      <vt:lpstr>PowerPoint Presentation</vt:lpstr>
      <vt:lpstr>PowerPoint Presentation</vt:lpstr>
      <vt:lpstr>PowerPoint Presentation</vt:lpstr>
      <vt:lpstr>PowerPoint Presentation</vt:lpstr>
      <vt:lpstr>Business Impact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Singh Sakshi Suresh</cp:lastModifiedBy>
  <cp:revision>1</cp:revision>
  <dcterms:modified xsi:type="dcterms:W3CDTF">2025-12-01T22:56:32Z</dcterms:modified>
</cp:coreProperties>
</file>